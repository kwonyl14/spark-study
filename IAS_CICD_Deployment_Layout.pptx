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E2E46"/>
                </a:solidFill>
                <a:latin typeface="Noto Sans CJK KR"/>
              </a:rPr>
              <a:t>IAS API Server CI/CD 배포 구성(안)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83464"/>
            <a:ext cx="3383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69737D"/>
                </a:solidFill>
                <a:latin typeface="Noto Sans CJK KR"/>
              </a:rPr>
              <a:t>DEV 자동화 / PROD 수동 승인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37D"/>
                </a:solidFill>
                <a:latin typeface="Noto Sans CJK KR"/>
              </a:rPr>
              <a:t>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1417320" cy="777240"/>
          </a:xfrm>
          <a:prstGeom prst="roundRect">
            <a:avLst/>
          </a:prstGeom>
          <a:solidFill>
            <a:srgbClr val="E8F0F9"/>
          </a:solidFill>
          <a:ln w="1778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Feature Branch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개발 및 Push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1682496"/>
            <a:ext cx="320040" cy="0"/>
          </a:xfrm>
          <a:prstGeom prst="line">
            <a:avLst/>
          </a:prstGeom>
          <a:ln w="22860">
            <a:solidFill>
              <a:srgbClr val="3769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1298448"/>
            <a:ext cx="1417320" cy="777240"/>
          </a:xfrm>
          <a:prstGeom prst="roundRect">
            <a:avLst/>
          </a:prstGeom>
          <a:solidFill>
            <a:srgbClr val="E8F0F9"/>
          </a:solidFill>
          <a:ln w="1778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Pull Request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리뷰 / 승인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1682496"/>
            <a:ext cx="320039" cy="0"/>
          </a:xfrm>
          <a:prstGeom prst="line">
            <a:avLst/>
          </a:prstGeom>
          <a:ln w="22860">
            <a:solidFill>
              <a:srgbClr val="3769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77639" y="1298448"/>
            <a:ext cx="1417320" cy="777240"/>
          </a:xfrm>
          <a:prstGeom prst="roundRect">
            <a:avLst/>
          </a:prstGeom>
          <a:solidFill>
            <a:srgbClr val="E8F0F9"/>
          </a:solidFill>
          <a:ln w="17780">
            <a:solidFill>
              <a:srgbClr val="37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Merge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develop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96012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37D"/>
                </a:solidFill>
                <a:latin typeface="Noto Sans CJK KR"/>
              </a:rPr>
              <a:t>CI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1682496"/>
            <a:ext cx="411480" cy="0"/>
          </a:xfrm>
          <a:prstGeom prst="line">
            <a:avLst/>
          </a:prstGeom>
          <a:ln w="22860">
            <a:solidFill>
              <a:srgbClr val="B441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06440" y="1234440"/>
            <a:ext cx="1600200" cy="914400"/>
          </a:xfrm>
          <a:prstGeom prst="roundRect">
            <a:avLst/>
          </a:prstGeom>
          <a:solidFill>
            <a:srgbClr val="FAF0E1"/>
          </a:solidFill>
          <a:ln w="17780">
            <a:solidFill>
              <a:srgbClr val="C27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Jenkins CI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Build / Test
Image Build &amp; 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2359152"/>
            <a:ext cx="2331720" cy="685800"/>
          </a:xfrm>
          <a:prstGeom prst="roundRect">
            <a:avLst/>
          </a:prstGeom>
          <a:solidFill>
            <a:srgbClr val="FDEEEE"/>
          </a:solidFill>
          <a:ln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4141"/>
                </a:solidFill>
                <a:latin typeface="Noto Sans CJK KR"/>
              </a:rPr>
              <a:t>현재 제약</a:t>
            </a:r>
          </a:p>
          <a:p>
            <a:pPr algn="ctr"/>
            <a:r>
              <a:rPr sz="900">
                <a:solidFill>
                  <a:srgbClr val="B44141"/>
                </a:solidFill>
                <a:latin typeface="Noto Sans CJK KR"/>
              </a:rPr>
              <a:t>Webhook 미지원 / Poll SCM 사용 금지
→ Merge→CI 자동 Trigger 불가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0" y="1682496"/>
            <a:ext cx="411480" cy="0"/>
          </a:xfrm>
          <a:prstGeom prst="line">
            <a:avLst/>
          </a:prstGeom>
          <a:ln w="22860">
            <a:solidFill>
              <a:srgbClr val="C27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18120" y="1298448"/>
            <a:ext cx="1417320" cy="777240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Image Registry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ias-api:&lt;tag&gt;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0" y="1682496"/>
            <a:ext cx="320040" cy="0"/>
          </a:xfrm>
          <a:prstGeom prst="line">
            <a:avLst/>
          </a:prstGeom>
          <a:ln w="2286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55480" y="1234440"/>
            <a:ext cx="2057400" cy="914400"/>
          </a:xfrm>
          <a:prstGeom prst="roundRect">
            <a:avLst/>
          </a:prstGeom>
          <a:solidFill>
            <a:srgbClr val="E7F4ED"/>
          </a:solidFill>
          <a:ln w="17780">
            <a:solidFill>
              <a:srgbClr val="2F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Helm / GitOps Repo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Chart + 환경별 values
image.tag 갱신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9737D"/>
                </a:solidFill>
                <a:latin typeface="Noto Sans CJK KR"/>
              </a:rPr>
              <a:t>CD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310128"/>
            <a:ext cx="1920240" cy="777240"/>
          </a:xfrm>
          <a:prstGeom prst="roundRect">
            <a:avLst/>
          </a:prstGeom>
          <a:solidFill>
            <a:srgbClr val="E7F4ED"/>
          </a:solidFill>
          <a:ln w="17780">
            <a:solidFill>
              <a:srgbClr val="2F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Argo CD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Git 상태 → Kubernetes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852160" y="2148840"/>
            <a:ext cx="4709160" cy="1161288"/>
          </a:xfrm>
          <a:prstGeom prst="line">
            <a:avLst/>
          </a:prstGeom>
          <a:ln w="22860">
            <a:solidFill>
              <a:srgbClr val="2F7E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617720"/>
            <a:ext cx="1920240" cy="868680"/>
          </a:xfrm>
          <a:prstGeom prst="roundRect">
            <a:avLst/>
          </a:prstGeom>
          <a:solidFill>
            <a:srgbClr val="E7F4ED"/>
          </a:solidFill>
          <a:ln w="17780">
            <a:solidFill>
              <a:srgbClr val="2F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DEV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Argo CD Auto Sync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834640" y="3703320"/>
            <a:ext cx="2057400" cy="914400"/>
          </a:xfrm>
          <a:prstGeom prst="line">
            <a:avLst/>
          </a:prstGeom>
          <a:ln w="22860">
            <a:solidFill>
              <a:srgbClr val="2F7E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154680" y="4617720"/>
            <a:ext cx="2011680" cy="868680"/>
          </a:xfrm>
          <a:prstGeom prst="roundRect">
            <a:avLst/>
          </a:prstGeom>
          <a:solidFill>
            <a:srgbClr val="E7F4ED"/>
          </a:solidFill>
          <a:ln w="17780">
            <a:solidFill>
              <a:srgbClr val="2F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DEV Kubernetes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자동 배포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5056632"/>
            <a:ext cx="320040" cy="0"/>
          </a:xfrm>
          <a:prstGeom prst="line">
            <a:avLst/>
          </a:prstGeom>
          <a:ln w="22860">
            <a:solidFill>
              <a:srgbClr val="2F7E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40880" y="4617720"/>
            <a:ext cx="1920240" cy="868680"/>
          </a:xfrm>
          <a:prstGeom prst="roundRect">
            <a:avLst/>
          </a:prstGeom>
          <a:solidFill>
            <a:srgbClr val="FAF0E1"/>
          </a:solidFill>
          <a:ln w="17780">
            <a:solidFill>
              <a:srgbClr val="C27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PROD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승인 후 Manual Sync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12280" y="3703320"/>
            <a:ext cx="1188720" cy="914400"/>
          </a:xfrm>
          <a:prstGeom prst="line">
            <a:avLst/>
          </a:prstGeom>
          <a:ln w="22860">
            <a:solidFill>
              <a:srgbClr val="C27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81160" y="4617720"/>
            <a:ext cx="2011680" cy="868680"/>
          </a:xfrm>
          <a:prstGeom prst="roundRect">
            <a:avLst/>
          </a:prstGeom>
          <a:solidFill>
            <a:srgbClr val="FAF0E1"/>
          </a:solidFill>
          <a:ln w="17780">
            <a:solidFill>
              <a:srgbClr val="C27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E46"/>
                </a:solidFill>
                <a:latin typeface="Noto Sans CJK KR"/>
              </a:rPr>
              <a:t>PROD Kubernetes</a:t>
            </a:r>
          </a:p>
          <a:p>
            <a:pPr algn="ctr"/>
            <a:r>
              <a:rPr sz="950">
                <a:solidFill>
                  <a:srgbClr val="69737D"/>
                </a:solidFill>
                <a:latin typeface="Noto Sans CJK KR"/>
              </a:rPr>
              <a:t>수동 배포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61120" y="5056632"/>
            <a:ext cx="320040" cy="0"/>
          </a:xfrm>
          <a:prstGeom prst="line">
            <a:avLst/>
          </a:prstGeom>
          <a:ln w="22860">
            <a:solidFill>
              <a:srgbClr val="C27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5989320"/>
            <a:ext cx="1110996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E2E46"/>
                </a:solidFill>
                <a:latin typeface="Noto Sans CJK KR"/>
              </a:rPr>
              <a:t>권장 정책: PR에서는 CI 검증 → develop merge 후 DEV 자동 배포 / PROD는 배포 버전 승인 후 Argo CD Manual 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